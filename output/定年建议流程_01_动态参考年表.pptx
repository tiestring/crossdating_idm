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8529e880a4df3" /><Relationship Type="http://schemas.openxmlformats.org/officeDocument/2006/relationships/extended-properties" Target="/docProps/app.xml" Id="R288a5f78bb164ca2" /><Relationship Type="http://schemas.openxmlformats.org/officeDocument/2006/relationships/officeDocument" Target="/ppt/presentation.xml" Id="R873af2c3f1d8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ae554ab044b0f"/>
  </p:sldMasterIdLst>
  <p:notesMasterIdLst>
    <p:notesMasterId xmlns:r="http://schemas.openxmlformats.org/officeDocument/2006/relationships" r:id="R3793c88f0c764b11"/>
  </p:notesMasterIdLst>
  <p:sldIdLst>
    <p:sldId xmlns:r="http://schemas.openxmlformats.org/officeDocument/2006/relationships" id="256" r:id="R8a972f1a0cd94980"/>
    <p:sldId xmlns:r="http://schemas.openxmlformats.org/officeDocument/2006/relationships" id="257" r:id="R3325dc12769d4e19"/>
    <p:sldId xmlns:r="http://schemas.openxmlformats.org/officeDocument/2006/relationships" id="258" r:id="R5fa9e3ab661846db"/>
    <p:sldId xmlns:r="http://schemas.openxmlformats.org/officeDocument/2006/relationships" id="259" r:id="R0ad09f0831574fbf"/>
    <p:sldId xmlns:r="http://schemas.openxmlformats.org/officeDocument/2006/relationships" id="260" r:id="Re3196d54c6684d6b"/>
    <p:sldId xmlns:r="http://schemas.openxmlformats.org/officeDocument/2006/relationships" id="261" r:id="R24410ee1ae274937"/>
    <p:sldId xmlns:r="http://schemas.openxmlformats.org/officeDocument/2006/relationships" id="262" r:id="R9e3479dd1ffa40a9"/>
    <p:sldId xmlns:r="http://schemas.openxmlformats.org/officeDocument/2006/relationships" id="263" r:id="R3c5bebd0fd0a47c7"/>
    <p:sldId xmlns:r="http://schemas.openxmlformats.org/officeDocument/2006/relationships" id="264" r:id="R09aece764fcf42a8"/>
    <p:sldId xmlns:r="http://schemas.openxmlformats.org/officeDocument/2006/relationships" id="265" r:id="R332c701443774e68"/>
    <p:sldId xmlns:r="http://schemas.openxmlformats.org/officeDocument/2006/relationships" id="266" r:id="R7054328dc9c5444a"/>
    <p:sldId xmlns:r="http://schemas.openxmlformats.org/officeDocument/2006/relationships" id="267" r:id="R7684f7d770494e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5f44ccf99f4d7b" /><Relationship Type="http://schemas.openxmlformats.org/officeDocument/2006/relationships/slideMaster" Target="/ppt/slideMasters/slideMaster1.xml" Id="R4faae554ab044b0f" /><Relationship Type="http://schemas.openxmlformats.org/officeDocument/2006/relationships/notesMaster" Target="/ppt/notesMasters/notesMaster1.xml" Id="R3793c88f0c764b11" /><Relationship Type="http://schemas.openxmlformats.org/officeDocument/2006/relationships/presProps" Target="/ppt/presProps.xml" Id="R38cc0d6b0fe243ca" /><Relationship Type="http://schemas.openxmlformats.org/officeDocument/2006/relationships/tableStyles" Target="/ppt/tableStyles.xml" Id="Rbe69fe03522a49e2" /><Relationship Type="http://schemas.openxmlformats.org/officeDocument/2006/relationships/slide" Target="/ppt/slides/slide1.xml" Id="R8a972f1a0cd94980" /><Relationship Type="http://schemas.openxmlformats.org/officeDocument/2006/relationships/slide" Target="/ppt/slides/slide2.xml" Id="R3325dc12769d4e19" /><Relationship Type="http://schemas.openxmlformats.org/officeDocument/2006/relationships/slide" Target="/ppt/slides/slide3.xml" Id="R5fa9e3ab661846db" /><Relationship Type="http://schemas.openxmlformats.org/officeDocument/2006/relationships/slide" Target="/ppt/slides/slide4.xml" Id="R0ad09f0831574fbf" /><Relationship Type="http://schemas.openxmlformats.org/officeDocument/2006/relationships/slide" Target="/ppt/slides/slide5.xml" Id="Re3196d54c6684d6b" /><Relationship Type="http://schemas.openxmlformats.org/officeDocument/2006/relationships/slide" Target="/ppt/slides/slide6.xml" Id="R24410ee1ae274937" /><Relationship Type="http://schemas.openxmlformats.org/officeDocument/2006/relationships/slide" Target="/ppt/slides/slide7.xml" Id="R9e3479dd1ffa40a9" /><Relationship Type="http://schemas.openxmlformats.org/officeDocument/2006/relationships/slide" Target="/ppt/slides/slide8.xml" Id="R3c5bebd0fd0a47c7" /><Relationship Type="http://schemas.openxmlformats.org/officeDocument/2006/relationships/slide" Target="/ppt/slides/slide9.xml" Id="R09aece764fcf42a8" /><Relationship Type="http://schemas.openxmlformats.org/officeDocument/2006/relationships/slide" Target="/ppt/slides/slide10.xml" Id="R332c701443774e68" /><Relationship Type="http://schemas.openxmlformats.org/officeDocument/2006/relationships/slide" Target="/ppt/slides/slide11.xml" Id="R7054328dc9c5444a" /><Relationship Type="http://schemas.openxmlformats.org/officeDocument/2006/relationships/slide" Target="/ppt/slides/slide12.xml" Id="R7684f7d770494e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f57438a2d8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475736e7dd46cb" /><Relationship Type="http://schemas.openxmlformats.org/officeDocument/2006/relationships/notesMaster" Target="/ppt/notesMasters/notesMaster1.xml" Id="R0ab99fc1dcbe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3807478a8e43d6" /><Relationship Type="http://schemas.openxmlformats.org/officeDocument/2006/relationships/notesMaster" Target="/ppt/notesMasters/notesMaster1.xml" Id="R4b6f5cc5acfa4f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faa13dd0b4449" /><Relationship Type="http://schemas.openxmlformats.org/officeDocument/2006/relationships/notesMaster" Target="/ppt/notesMasters/notesMaster1.xml" Id="R60de485abda743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ed2e2a48c2488b" /><Relationship Type="http://schemas.openxmlformats.org/officeDocument/2006/relationships/notesMaster" Target="/ppt/notesMasters/notesMaster1.xml" Id="R24ff3699ea024f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122ad1b0e4f40" /><Relationship Type="http://schemas.openxmlformats.org/officeDocument/2006/relationships/notesMaster" Target="/ppt/notesMasters/notesMaster1.xml" Id="Rf9601afae90b4f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8fb84a2c5344bf" /><Relationship Type="http://schemas.openxmlformats.org/officeDocument/2006/relationships/notesMaster" Target="/ppt/notesMasters/notesMaster1.xml" Id="Rcdb741f899c24c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9af196c6004cfb" /><Relationship Type="http://schemas.openxmlformats.org/officeDocument/2006/relationships/notesMaster" Target="/ppt/notesMasters/notesMaster1.xml" Id="R0d9dc1670e9d44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b139ebe84a4981" /><Relationship Type="http://schemas.openxmlformats.org/officeDocument/2006/relationships/notesMaster" Target="/ppt/notesMasters/notesMaster1.xml" Id="R09404c9ea79249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a738bd56104609" /><Relationship Type="http://schemas.openxmlformats.org/officeDocument/2006/relationships/notesMaster" Target="/ppt/notesMasters/notesMaster1.xml" Id="R16137df7fbc942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cbaafeb2854f94" /><Relationship Type="http://schemas.openxmlformats.org/officeDocument/2006/relationships/notesMaster" Target="/ppt/notesMasters/notesMaster1.xml" Id="R6bb4a76fcb614e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46d64211cf483f" /><Relationship Type="http://schemas.openxmlformats.org/officeDocument/2006/relationships/notesMaster" Target="/ppt/notesMasters/notesMaster1.xml" Id="R31e8b4176c6444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2b8bad27e54c91" /><Relationship Type="http://schemas.openxmlformats.org/officeDocument/2006/relationships/notesMaster" Target="/ppt/notesMasters/notesMaster1.xml" Id="R8dae07c849d64f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立边界：这章只解释程序如何取得比较基准，不解释后面的插轮、删轮或移动建议。口头比喻可以说：目标样芯不能只看自己的形状判断日历位置，它需要一条公共节拍；但页面只展示真实树芯与年表，不用人物隐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asset: assets/aligned-cores-master.png, created with Codex built-in gpt-image-2; prompt recorded in image-prompts.txt.</a:t>
            </a:r>
          </a:p>
          <a:p xmlns:a="http://schemas.openxmlformats.org/drawingml/2006/main">
            <a:r>
              <a:t>- D:\Code\Crossdating_Tauri_js-diagnosis-events-v1, HEAD 03c1d81b.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把动态参考理解为后续所有 lag 检查的坐标系。可以口头说：在地图上判断路线是否偏移之前，必须先确认地图本身。这里的输出是比较对象，不是修改操作。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src/features/crossdating/reference.ts:52-92, 673-743.</a:t>
            </a:r>
          </a:p>
          <a:p xmlns:a="http://schemas.openxmlformats.org/drawingml/2006/main">
            <a:r>
              <a:t>- src/pages/home/diagnosisWorker.ts:59-79.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逐步讲：先解析 OUT；PART 6 只用来得到带 A 的样芯 ID 并做 anchor/candidate 分类；然后按 anchor_pass 数量分流。注意措辞是“pairwise bootstrap 尝试”，因为它还可能因群组规模或逐年深度不足而返回 null。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src/pages/home/useHomeWorkspace.ts:550-576.</a:t>
            </a:r>
          </a:p>
          <a:p xmlns:a="http://schemas.openxmlformats.org/drawingml/2006/main">
            <a:r>
              <a:t>- src/features/crossdating/reference.ts:673-743.</a:t>
            </a:r>
          </a:p>
          <a:p xmlns:a="http://schemas.openxmlformats.org/drawingml/2006/main">
            <a:r>
              <a:t>- src/features/crossdating/pairwiseBootstrap.ts:105-143.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这页要讲清“读取”而不是“重建”。正常路径没有调用自建 master 的 spline/AR/log 平均流程；它把 COFECHA 解析出的 PART 3 master 封装为 dynamic ReferenceSeriesConfig，并保留 PART 6 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src/pages/home/useHomeWorkspace.ts:550-576.</a:t>
            </a:r>
          </a:p>
          <a:p xmlns:a="http://schemas.openxmlformats.org/drawingml/2006/main">
            <a:r>
              <a:t>- src/features/crossdating/reference.ts:673-743.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这是信任边界，不能略过。可以口头类比：公共地图由所有轨迹共同绘制，当前被检查的轨迹可能也参与了制图。因此正常路径的 master 是公共基准，但不是严格的目标外部证据。不要把它说成 leave-one-out。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src/features/crossdating/reference.ts:693-718.</a:t>
            </a:r>
          </a:p>
          <a:p xmlns:a="http://schemas.openxmlformats.org/drawingml/2006/main">
            <a:r>
              <a:t>- src/features/crossdating/reference.ts:733-743.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这不是寻找“相关最高的一对”，而是寻找彼此在 lag 0 已经同步、且挪动后也没有显著更好的成组结构。口头可说：大家先互相对表，只有在零点上已经基本一致的人才连成一组；最大连通组成为临时参考候选。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src/features/crossdating/pairwiseBootstrap.ts:9-12.</a:t>
            </a:r>
          </a:p>
          <a:p xmlns:a="http://schemas.openxmlformats.org/drawingml/2006/main">
            <a:r>
              <a:t>- src/features/crossdating/pairwiseBootstrap.ts:14-102.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这是对“冷启动路径”的精确修正：少于 3 条 anchor 只是进入 pairwise 尝试的条件，不代表最终一定使用 pairwise。若最大的零位连通组不足 5 条，或无法生成可用点，createPairwiseBootstrapReferenceConfig 会返回 null；useHomeWorkspace 的 null-coalescing 随后采用 PART 3 master。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src/pages/home/useHomeWorkspace.ts:559-576.</a:t>
            </a:r>
          </a:p>
          <a:p xmlns:a="http://schemas.openxmlformats.org/drawingml/2006/main">
            <a:r>
              <a:t>- src/features/crossdating/reference.ts:117-136, 552-589.</a:t>
            </a:r>
          </a:p>
          <a:p xmlns:a="http://schemas.openxmlformats.org/drawingml/2006/main">
            <a:r>
              <a:t>- src/features/crossdating/pairwiseBootstrap.ts:105-143.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Pairwise 路径的关键防护是按目标重建。口头可说：评分标准不能把正在被评分的答案也算进去。代码先从 selectedTrees 删除 targetTree，再用剩余样芯创建新的 cofechaPassReference，Worker 用这份 targetReferenceConfig 诊断。正常 PART 3 路径没有同样的排除。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src/features/crossdating/pairwiseBootstrap.ts:146-179.</a:t>
            </a:r>
          </a:p>
          <a:p xmlns:a="http://schemas.openxmlformats.org/drawingml/2006/main">
            <a:r>
              <a:t>- src/pages/home/diagnosisWorker.ts:59-76.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只有自建参考走这条处理链。先用 32 年、50% 响应 spline 去掉长期生长趋势，原始宽度除以趋势得到 index；再按每条芯拟合最多 5 阶 AR 模型做预白化；默认做 log transform，并加均值的 1/6 保证正值；可选 first difference 默认关闭；逐年算术平均后，把 master 标准化为 mean 0、sd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src/features/crossdating/reference.ts:117-136.</a:t>
            </a:r>
          </a:p>
          <a:p xmlns:a="http://schemas.openxmlformats.org/drawingml/2006/main">
            <a:r>
              <a:t>- src/features/crossdating/reference.ts:465-549.</a:t>
            </a:r>
          </a:p>
          <a:p xmlns:a="http://schemas.openxmlformats.org/drawingml/2006/main">
            <a:r>
              <a:t>- src/features/crossdating/reference.ts:580-617.</a:t>
            </a:r>
          </a:p>
          <a:p xmlns:a="http://schemas.openxmlformats.org/drawingml/2006/main">
            <a:r>
              <a:t>- Generated asset: assets/reference-preprocessing.png, created with Codex built-in gpt-image-2; prompt recorded in image-prompts.txt.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建议现场原句：COFECHA 提供公共节拍和重点检查名单，但不会告诉 JS 在哪一年插轮或删轮。engine.ts 的候选草稿来自内部 global/pattern/segment 路径，注释明确 PART 6 lag 表不提交或评分操作；测试比较有无 cofechaText 时的候选与事件 signature，要求相同。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src/features/crossdating/diagnosis/engine.ts:90-133.</a:t>
            </a:r>
          </a:p>
          <a:p xmlns:a="http://schemas.openxmlformats.org/drawingml/2006/main">
            <a:r>
              <a:t>- src/features/crossdating/diagnosis/__tests__/cofechaDriven.test.ts:544-575.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这页一定要把两个新鲜度门分开。OUT 像带输入签名的原始回执：签名不一致就不再传入 Worker。动态参考点虽然在编辑回调中被标记 isStale=true，但自动选择器没有检查 isStale 或 rwlHash，只检查 mode=dynamic 且 points 非空。因此旧参考点可能继续作为比较对象。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src/pages/home/useHomeWorkspace.ts:347-364.</a:t>
            </a:r>
          </a:p>
          <a:p xmlns:a="http://schemas.openxmlformats.org/drawingml/2006/main">
            <a:r>
              <a:t>- src/pages/home/useHomeWorkspace.ts:1587-1626.</a:t>
            </a:r>
          </a:p>
          <a:p xmlns:a="http://schemas.openxmlformats.org/drawingml/2006/main">
            <a:r>
              <a:t>- src/pages/home/diagnosisReferencePolicy.ts:1-11.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收束时回到开场：程序现在只有一条比较坐标和一份目标/锚定分类，还没有任何可应用编辑。下一章才进入全局与分段 lag 侦查；即使形成 A-like、B-like 和传播模式，也仍要经过反事实试改，才能变成候选。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src/pages/home/useHomeWorkspace.ts:550-576, 1587-1626.</a:t>
            </a:r>
          </a:p>
          <a:p xmlns:a="http://schemas.openxmlformats.org/drawingml/2006/main">
            <a:r>
              <a:t>- src/features/crossdating/reference.ts:465-743.</a:t>
            </a:r>
          </a:p>
          <a:p xmlns:a="http://schemas.openxmlformats.org/drawingml/2006/main">
            <a:r>
              <a:t>- src/features/crossdating/pairwiseBootstrap.ts:9-179.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73daee790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a827a5226454b" /><Relationship Type="http://schemas.openxmlformats.org/officeDocument/2006/relationships/slideLayout" Target="/ppt/slideLayouts/slideLayout1.xml" Id="R57b7ac9a6d65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b7ac9a6d65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974959ee2478d" /><Relationship Type="http://schemas.openxmlformats.org/officeDocument/2006/relationships/image" Target="/ppt/media/image.png" Id="R59aa5579166c4161" /><Relationship Type="http://schemas.openxmlformats.org/officeDocument/2006/relationships/notesSlide" Target="/ppt/notesSlides/notesSlide1.xml" Id="Rdd9e61c3d4e3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3834e02274d13" /><Relationship Type="http://schemas.openxmlformats.org/officeDocument/2006/relationships/notesSlide" Target="/ppt/notesSlides/notesSlide2.xml" Id="Raa8adb6d49a345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304610b0147bc" /><Relationship Type="http://schemas.openxmlformats.org/officeDocument/2006/relationships/notesSlide" Target="/ppt/notesSlides/notesSlide3.xml" Id="R90bb406d2d604f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3647853174ae7" /><Relationship Type="http://schemas.openxmlformats.org/officeDocument/2006/relationships/notesSlide" Target="/ppt/notesSlides/notesSlide4.xml" Id="R49798d2c044a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84176150f4f6e" /><Relationship Type="http://schemas.openxmlformats.org/officeDocument/2006/relationships/notesSlide" Target="/ppt/notesSlides/notesSlide5.xml" Id="Reab0bd476d5b40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5f5109fbb4646" /><Relationship Type="http://schemas.openxmlformats.org/officeDocument/2006/relationships/notesSlide" Target="/ppt/notesSlides/notesSlide6.xml" Id="R03234fefa4654f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0c3ff30064b1d" /><Relationship Type="http://schemas.openxmlformats.org/officeDocument/2006/relationships/notesSlide" Target="/ppt/notesSlides/notesSlide7.xml" Id="Rfdf3a9ec7c2041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532a521b849de" /><Relationship Type="http://schemas.openxmlformats.org/officeDocument/2006/relationships/notesSlide" Target="/ppt/notesSlides/notesSlide8.xml" Id="Rbac5d7b9fb424c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046c4ec9744ff" /><Relationship Type="http://schemas.openxmlformats.org/officeDocument/2006/relationships/image" Target="/ppt/media/image2.png" Id="Refcdb1041d7640f9" /><Relationship Type="http://schemas.openxmlformats.org/officeDocument/2006/relationships/notesSlide" Target="/ppt/notesSlides/notesSlide9.xml" Id="Rb8f5d171fe3840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bf03055214562" /><Relationship Type="http://schemas.openxmlformats.org/officeDocument/2006/relationships/notesSlide" Target="/ppt/notesSlides/notesSlide10.xml" Id="R1301922d7f184c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7a10441f040e9" /><Relationship Type="http://schemas.openxmlformats.org/officeDocument/2006/relationships/notesSlide" Target="/ppt/notesSlides/notesSlide11.xml" Id="R606c477f310345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aac56b5864781" /><Relationship Type="http://schemas.openxmlformats.org/officeDocument/2006/relationships/notesSlide" Target="/ppt/notesSlides/notesSlide12.xml" Id="Rf385bfc848d848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A63302E-55A2-4B1D-80BF-646E894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473EDD1-1252-423A-AD78-BA931E2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91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先建立“裁判席”</a:t>
            </a:r>
          </a:p>
          <a:p xmlns:a="http://schemas.openxmlformats.org/drawingml/2006/main">
            <a:pPr algn="l">
              <a:defRPr sz="43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动态参考年表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86D1E0C-4C60-4AE0-B04B-99F457D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在任何插轮、删轮或移动建议出现之前，</a:t>
            </a:r>
          </a:p>
          <a:p xmlns:a="http://schemas.openxmlformats.org/drawingml/2006/main">
            <a:pPr algn="l">
              <a:defRPr sz="172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先确定一条可比较的公共年代信号。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B1A37-8F81-4C94-8235-D2924154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4476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CFB0E-2194-4A36-818C-1C274D82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本章讲清：正常 COFECHA 路径 · Pairwise 冷启动 · leave-one-out 边界 · stale 行为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a5579166c4161"/>
          <a:srcRect xmlns:a="http://schemas.openxmlformats.org/drawingml/2006/main" l="1182" t="0" r="11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400050"/>
            <a:ext cx="5505450" cy="5638800"/>
          </a:xfrm>
          <a:prstGeom xmlns:a="http://schemas.openxmlformats.org/drawingml/2006/main" prst="roundRect">
            <a:avLst>
              <a:gd name="adj" fmla="val 207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0D439-55F1-4EA5-B972-31A20F0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工作树基线 HEAD 03c1d81b · 2026-08-18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802BA-D36E-48E2-8E6B-A8686A6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0405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2">
            <a:extLst xmlns:a="http://schemas.openxmlformats.org/drawingml/2006/main">
              <a:ext uri="{FF2B5EF4-FFF2-40B4-BE49-F238E27FC236}">
                <a16:creationId xmlns:a16="http://schemas.microsoft.com/office/drawing/2014/main" id="{0DEA3DC3-E80D-43C5-BA8A-8C91C34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1D39B0C-C49F-4B23-BBD0-975A5E3A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参考年表先回答：目标样芯要和谁比较？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8C84C-DC66-4192-8343-0FA7BC3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FCA02CEA-63CD-4BDB-870B-39C84C3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reference.ts · diagnosisWorker.ts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C415A064-518D-4EA6-A449-9455A99B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7630A-1FC4-45E2-8274-40F0A7B0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ED1EC-C2F1-4BD4-ADC1-61C0DFB4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5002-BF27-4D00-ABD8-B4596F40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76225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F2AD8-752C-4974-B89E-C56EBD1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9F52B-AF97-4F59-BD1B-79F5F648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41D93-F4F4-4565-A1D2-08BE82FD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目标样芯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C83C5-5691-44F9-9A6C-37ED398D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305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working data 中的一条轮宽序列。它不能仅凭自身起伏判断年代位置。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0737D-BD1F-4B21-86C6-CB1BB86F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00200"/>
            <a:ext cx="3448050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B159D-BF12-4B48-A5C5-8A886F48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00200"/>
            <a:ext cx="952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F2138-9B6D-4D50-89E4-FD19ADA8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比较坐标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67B18-4329-4932-B7A9-BB9BC94F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动态参考年表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CC560-707C-4E93-BF2E-74714C97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9908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按年份组织的公共信号。来源可能是 COFECHA PART 3 master，也可能是 pairwise 自建 chronology。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EEE23-22FD-4FEB-840D-0F24ECA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30480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02F72-C777-4154-BAA0-6D93FDF5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4"/>
          </a:solidFill>
          <a:ln xmlns:a="http://schemas.openxmlformats.org/drawingml/2006/main" w="9525">
            <a:solidFill>
              <a:srgbClr val="2C8B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988AF-C167-4770-99DF-88DE15D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2830B-6C39-4DB0-9945-582A31E2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错位侦查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2231E-5951-43DD-BCC7-1BCDDADD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590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全局与分段 lag、A-like / B-like 以及传播模式都依赖这条坐标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AB622-CC05-4F50-B429-18DAB230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67300"/>
            <a:ext cx="8096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E8DD"/>
          </a:solidFill>
          <a:ln xmlns:a="http://schemas.openxmlformats.org/drawingml/2006/main" w="9525">
            <a:solidFill>
              <a:srgbClr val="F7E8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8FC37-A74A-489F-B1ED-731C74F9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578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rPr>
              <a:t>这一章仍不会产生“在某年插轮 / 删轮 / 移动范围”的可应用建议。</a:t>
            </a:r>
          </a:p>
        </p:txBody>
      </p:sp>
    </p:spTree>
    <p:extLst>
      <p:ext uri="{BB962C8B-B14F-4D97-AF65-F5344CB8AC3E}">
        <p14:creationId xmlns:p14="http://schemas.microsoft.com/office/powerpoint/2010/main" val="331122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3">
            <a:extLst xmlns:a="http://schemas.openxmlformats.org/drawingml/2006/main">
              <a:ext uri="{FF2B5EF4-FFF2-40B4-BE49-F238E27FC236}">
                <a16:creationId xmlns:a16="http://schemas.microsoft.com/office/drawing/2014/main" id="{38130E93-9E74-4B16-A58D-36C95900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70FB7AB-8B25-4231-8A84-6E33C74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一轮 COFECHA 后，程序先在两条初始参考路径之间分流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C81EA-DE4E-4E29-A4D3-25540FF6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0892392D-F33F-48DE-8835-36609E18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useHomeWorkspace.ts:550–576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776C7ACA-076C-49AF-89A9-B569974C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15189-D2DC-48E2-989D-D36D00D0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4E3B6-2989-4D04-9089-78B6F61D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B7D77-BEEB-4DA2-BDDB-3D053E47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145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8B64"/>
          </a:solidFill>
          <a:ln xmlns:a="http://schemas.openxmlformats.org/drawingml/2006/main" w="0">
            <a:solidFill>
              <a:srgbClr val="2C8B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376E5-E0E2-4050-9CDD-9602161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6D2D"/>
          </a:solidFill>
          <a:ln xmlns:a="http://schemas.openxmlformats.org/drawingml/2006/main" w="0">
            <a:solidFill>
              <a:srgbClr val="C46D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9FD6D-FD1C-4382-8A98-8EE394B1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DC986-6B99-4550-9565-F526D707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385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5333D-409E-4ABA-818E-A9883ABB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5621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9FE7C-B045-4A25-80F0-37A2B3E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COFECHA 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634CE-068C-48EB-B9D9-A5FEDFD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71450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DE1C1-112D-422F-A04D-A8FA4C32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解析 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D4D8D-EBDA-4243-9E2C-F3D347E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PART 6 分类</a:t>
            </a:r>
          </a:p>
          <a:p xmlns:a="http://schemas.openxmlformats.org/drawingml/2006/main">
            <a:pPr algn="l">
              <a:defRPr sz="14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+ PART 3 master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1F22F-021A-4FD4-9525-EAB67681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90750"/>
            <a:ext cx="18859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63280-834A-4E19-B2A4-EF110E97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anchor_pass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509E1-5150-4D15-AD51-E1231C7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527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数量 ≥ 3 条？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4EDBA-72EA-4178-96E9-180EEB4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81150"/>
            <a:ext cx="26860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1F3EB"/>
          </a:solidFill>
          <a:ln xmlns:a="http://schemas.openxmlformats.org/drawingml/2006/main" w="9525">
            <a:solidFill>
              <a:srgbClr val="2C8B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215C3-57EA-4F27-AD85-BE85116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是 · 正常路径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FFAEF-8FC9-48A7-9725-B7BEE82D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直接采用</a:t>
            </a:r>
          </a:p>
          <a:p xmlns:a="http://schemas.openxmlformats.org/drawingml/2006/main">
            <a:pPr algn="l">
              <a:defRPr sz="15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PART 3 master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602A6-28B6-4B0B-A11F-64C942E2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2686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8DD"/>
          </a:solidFill>
          <a:ln xmlns:a="http://schemas.openxmlformats.org/drawingml/2006/main" w="9525">
            <a:solidFill>
              <a:srgbClr val="C46D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8FD04-F5FC-40A8-A7E8-1AF43E9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95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rPr>
              <a:t>否 · 冷启动尝试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41005-B68E-4DCA-B90B-EEE8F130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Pairwise bootstrap</a:t>
            </a:r>
          </a:p>
          <a:p xmlns:a="http://schemas.openxmlformats.org/drawingml/2006/main">
            <a:pPr algn="l">
              <a:def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尝试自建 chronology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79B91-5C04-4EB9-973A-459DBF49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343150"/>
            <a:ext cx="914400" cy="11430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21ACA-0032-4D77-B5B9-6BEB2F4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09850"/>
            <a:ext cx="68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06180-7140-4EB9-96AE-36120ADC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6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初始分流只决定比较年表的来源；真正的诊断和候选生成尚未开始。</a:t>
            </a:r>
          </a:p>
        </p:txBody>
      </p:sp>
    </p:spTree>
    <p:extLst>
      <p:ext uri="{BB962C8B-B14F-4D97-AF65-F5344CB8AC3E}">
        <p14:creationId xmlns:p14="http://schemas.microsoft.com/office/powerpoint/2010/main" val="1424132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4">
            <a:extLst xmlns:a="http://schemas.openxmlformats.org/drawingml/2006/main">
              <a:ext uri="{FF2B5EF4-FFF2-40B4-BE49-F238E27FC236}">
                <a16:creationId xmlns:a16="http://schemas.microsoft.com/office/drawing/2014/main" id="{F9EC56F8-2FCA-4F56-ABE7-F90832C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1093C9B-77E0-41CB-A313-EC52A3E3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正常路径直接采用 PART 3 master，不在 JS 中重算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D3531-53D6-4BA8-853B-53B9A2A0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4">
            <a:extLst xmlns:a="http://schemas.openxmlformats.org/drawingml/2006/main">
              <a:ext uri="{FF2B5EF4-FFF2-40B4-BE49-F238E27FC236}">
                <a16:creationId xmlns:a16="http://schemas.microsoft.com/office/drawing/2014/main" id="{ADC3341D-37D2-4EDA-85F1-5CCACDE0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useHomeWorkspace.ts:550–576 · reference.ts:673–743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E63163C0-7E38-4FD1-AF36-E782DA01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00540-F9A4-4DC9-91F3-F933C3A6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2895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DE27A-8E77-4A95-9277-0E2B065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0BC65-1873-4FD7-96A3-01E344F7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01 解析 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D8CAC-C364-464A-955D-84E27B33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parseCofechaResult()</a:t>
            </a:r>
          </a:p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splitReportByParts()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6499B-3C54-4E53-BBE2-DBDB3671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ADC0-F9B9-43FC-9C1B-F71DCB6E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43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02 PART 6 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DF6C9-6E01-478F-A995-651167C0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无 [A] → anchor_pass</a:t>
            </a:r>
          </a:p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有 [A] → candidate_flagged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A468F-7BB0-402F-B0D1-8338A2DB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087C2-3BA4-4B54-BD81-EAFED5C4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03 读取 PART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A65D4-B849-4BD8-96B3-E9A3084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nextResult.</a:t>
            </a:r>
          </a:p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masterDatingSeries</a:t>
            </a:r>
          </a:p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按年份读取 master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3BA73-C567-4AC3-A96B-3FAD0BE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12176-A0A6-472E-922B-031944C0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04 保存 dynamic</a:t>
            </a:r>
          </a:p>
          <a:p xmlns:a="http://schemas.openxmlformats.org/drawingml/2006/main">
            <a:pPr algn="l">
              <a:defRPr sz="120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C0C8F-4F00-4C20-9DD3-10E7B37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337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cofechaRunId + rwlHash</a:t>
            </a:r>
          </a:p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isStale =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8400E-A48F-40E2-87A5-08AF1E4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077D3-D19D-4FA8-B21C-F8A38E3C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分流阈值：anchor_pass ≥ 3 → 当前实现优先保留 PART 3 master 路径</a:t>
            </a:r>
          </a:p>
        </p:txBody>
      </p:sp>
    </p:spTree>
    <p:extLst>
      <p:ext uri="{BB962C8B-B14F-4D97-AF65-F5344CB8AC3E}">
        <p14:creationId xmlns:p14="http://schemas.microsoft.com/office/powerpoint/2010/main" val="2108302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D7C627AD-91F1-48E9-A9BD-5121816A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5AF0572-D2AF-4284-894A-451A999F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关键边界：PART 3 master 不是目标专用的 leave-one-out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2C9C5-A439-4513-9456-B5916560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5">
            <a:extLst xmlns:a="http://schemas.openxmlformats.org/drawingml/2006/main">
              <a:ext uri="{FF2B5EF4-FFF2-40B4-BE49-F238E27FC236}">
                <a16:creationId xmlns:a16="http://schemas.microsoft.com/office/drawing/2014/main" id="{5523FBBC-65B1-4A6F-A920-8BFC0179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reference.ts:693–718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C5B0E03-C354-4174-AF2F-FA5BAD80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EEBA4-356A-4B0D-937F-B42521E1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219700" cy="32766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5DB64-27D6-402D-8A6F-A768962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5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ED2D9-DDEB-496A-A951-4786BFA0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当前真实实现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0E42A-EBE4-48F4-BA13-99130E82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includedSeriesIds = allSeriesIds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8E121-D562-431A-872C-954F0FA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762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程序把解析出的 masterDatingSeries 原样转成参考点，并把所有样芯 ID 记录为 includedSeriesIds。目标样芯可能已经对 COFECHA master 有贡献。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E6536-38E4-4C3D-9722-EBC34B3E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5219700" cy="32766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373BB-961D-4F43-A7F7-FE3B0924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95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3D3D"/>
          </a:solidFill>
          <a:ln xmlns:a="http://schemas.openxmlformats.org/drawingml/2006/main" w="9525">
            <a:solidFill>
              <a:srgbClr val="BD3D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DE6D9-7D11-490F-8E0B-C1E5566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66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rPr>
              <a:t>本路径没有做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8D1D4-21B5-4B91-AD80-DCD5FE1F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717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不为当前目标重新构造 master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C1C04-2F9F-4F26-A0A6-C38CCEF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4762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不会先删除目标样芯，再对其余样芯进行 spline、AR、log 与逐年平均。目标专用排除只在 pairwise 路径中实现。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6178F-9927-47D5-9DC8-19E72FCE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34000"/>
            <a:ext cx="872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8DD"/>
          </a:solidFill>
          <a:ln xmlns:a="http://schemas.openxmlformats.org/drawingml/2006/main" w="9525">
            <a:solidFill>
              <a:srgbClr val="F7E8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07B07-AFFA-4AD6-A183-9CCF11A4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76875"/>
            <a:ext cx="826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rPr>
              <a:t>会议上应披露：公共 master 可包含被检查目标的贡献，因此它不是完全独立的参照。</a:t>
            </a:r>
          </a:p>
        </p:txBody>
      </p:sp>
    </p:spTree>
    <p:extLst>
      <p:ext uri="{BB962C8B-B14F-4D97-AF65-F5344CB8AC3E}">
        <p14:creationId xmlns:p14="http://schemas.microsoft.com/office/powerpoint/2010/main" val="1567228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-6">
            <a:extLst xmlns:a="http://schemas.openxmlformats.org/drawingml/2006/main">
              <a:ext uri="{FF2B5EF4-FFF2-40B4-BE49-F238E27FC236}">
                <a16:creationId xmlns:a16="http://schemas.microsoft.com/office/drawing/2014/main" id="{4AAEA85B-2132-44C4-A54E-E4FA826B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90F67BE-71DD-4454-9E0E-E80D3A67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冷启动：用两两零位同步关系寻找临时参考组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598CD-9582-4EEC-9701-EF342E30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6">
            <a:extLst xmlns:a="http://schemas.openxmlformats.org/drawingml/2006/main">
              <a:ext uri="{FF2B5EF4-FFF2-40B4-BE49-F238E27FC236}">
                <a16:creationId xmlns:a16="http://schemas.microsoft.com/office/drawing/2014/main" id="{D7CE87AA-0C38-4AC3-B6C1-3CABFFE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pairwiseBootstrap.ts:9–102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85127C6A-FDC1-4027-8F83-7D796298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70D97-32B8-448C-A771-493A0F12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每一对标准化后的样芯都要通过四个条件，才会在图中连边。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38442-9BDE-4CEA-A021-CA5EF42B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00200" y="2266950"/>
            <a:ext cx="133350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EE300-9960-48AC-977A-510E109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00200" y="2790825"/>
            <a:ext cx="1714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62F1E-82FE-4738-ADA2-F8093FD0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2266950"/>
            <a:ext cx="38100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DFDEB-C076-4646-AC90-00F7D746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2266950"/>
            <a:ext cx="18573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4DDD6-AE34-4241-8F9F-D5550A43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14700" y="3552825"/>
            <a:ext cx="16192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51AEF-A54C-4AB1-8FAF-3A202460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600325"/>
            <a:ext cx="14287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9B534-BBDE-47D5-9E1C-2EF56D9B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600325"/>
            <a:ext cx="1571625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4F388-DF71-4C38-8462-51DFBFC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33950" y="3238500"/>
            <a:ext cx="14287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5DC1F-66D4-4A48-B0CF-841CE9C3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0450" y="2362200"/>
            <a:ext cx="9525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2A413-1EF0-4BE5-987B-177F2CB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64460-3CAF-442C-8085-DF0EA7A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2EBAC-224A-4C5D-9974-A14AE754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1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27186-0723-43DD-95FE-45E1485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4BD86-F293-4EEE-AD40-B9D2419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539CB-7A77-44ED-8BC9-EB74BC15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702CE-D5DE-44E9-A96B-9C89E016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09A66-15E4-4E6D-B453-1A74C133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F4AA8-F24E-4AA7-96BF-96929A8B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最大连通组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D2DCC-6E64-4239-90D4-5B0376A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未进入主组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25E16-B1FF-41E4-BE52-56C77E3A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333750" cy="38290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525B8-FEE6-43BF-9A1D-CC54593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连边门槛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78A9F-4A46-47EC-AC0E-29B33CD6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≥ 50 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03735-6422-4D65-8064-004F810C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050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两条序列的有效重叠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9919A6-EB54-4D03-AC3A-4991DFC0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−10 … +10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B5D25-C01C-449B-B7D9-4C85275B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337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逐年扫描 lag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28388B-E236-4737-8216-85FA2D7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r₀ ≥ 0.30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1502CA-605F-4DE5-85E5-AFE70FDC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零位相关下限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C1E181-3D5A-4DED-999F-11A90AC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best r − r₀ ≤ 0.03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530D00-399B-4BB0-9643-AABF710A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006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最佳非零 lag 不能明显胜出</a:t>
            </a:r>
          </a:p>
        </p:txBody>
      </p:sp>
    </p:spTree>
    <p:extLst>
      <p:ext uri="{BB962C8B-B14F-4D97-AF65-F5344CB8AC3E}">
        <p14:creationId xmlns:p14="http://schemas.microsoft.com/office/powerpoint/2010/main" val="1337826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7">
            <a:extLst xmlns:a="http://schemas.openxmlformats.org/drawingml/2006/main">
              <a:ext uri="{FF2B5EF4-FFF2-40B4-BE49-F238E27FC236}">
                <a16:creationId xmlns:a16="http://schemas.microsoft.com/office/drawing/2014/main" id="{01778BBD-0B90-45F4-B1B5-36F545DF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F493B00-A907-40F4-9F2B-6AF2604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Pairwise 被触发后，仍要通过规模与逐年深度门槛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85E03-ABE8-445A-9716-753686B9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7">
            <a:extLst xmlns:a="http://schemas.openxmlformats.org/drawingml/2006/main">
              <a:ext uri="{FF2B5EF4-FFF2-40B4-BE49-F238E27FC236}">
                <a16:creationId xmlns:a16="http://schemas.microsoft.com/office/drawing/2014/main" id="{E461432B-6D44-4DAD-9AC6-850ED558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reference.ts:117–136, 552–589 · pairwiseBootstrap.ts:105–143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3DB2AC98-E335-44DE-B5A2-B889262F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7D1EA-2037-4F7B-90C8-7F755B08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74706-6E85-46F0-86F5-8203FF64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6C51D-A8C1-44AD-9B6D-4CB2296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724150" cy="243840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D4917-99E2-4F38-BFAF-81CCE33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95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D2D"/>
          </a:solidFill>
          <a:ln xmlns:a="http://schemas.openxmlformats.org/drawingml/2006/main" w="9525">
            <a:solidFill>
              <a:srgbClr val="C46D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ABF99-B6B1-4B73-B420-7E86E3C0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rPr>
              <a:t>门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0A8D4-7AB9-496B-8B4B-7CD47394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初始触发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53E7C-334A-42B7-A9CF-8CA2F708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266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PART 6 的 anchor_pass 少于 3 条，才尝试 pairwise bootstrap。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60B79-5E04-4C73-AD56-758D7679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09750"/>
            <a:ext cx="2933700" cy="243840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19083-6A9E-4110-96F4-16821962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09750"/>
            <a:ext cx="95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EF769-B1BB-46DE-B46D-3A40504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门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E3929-4FF2-4484-8E15-102407A8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群组规模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596DE-F249-43A2-98CE-546CFDC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最大连通组必须足以构造参考；自建 reference 要求至少 5 条 anchor。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55EA3-FB61-4E73-8D35-46FCA5B4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133850" cy="243840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19E47-8EFC-4FA8-A886-01460756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95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4"/>
          </a:solidFill>
          <a:ln xmlns:a="http://schemas.openxmlformats.org/drawingml/2006/main" w="9525">
            <a:solidFill>
              <a:srgbClr val="2C8B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55FBC-AD57-4C7E-906C-32B6C9F8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门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8A0DD-8489-4D0B-B15C-68A3944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050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逐年重复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0BFF6-0125-4433-9A4A-E3E26A93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3676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每个年份至少要有 3 条可用转换值，才会进入 rawMasterPoints；0 值 absent ring 默认排除。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93AC6-D34E-4F9D-A5CA-8A6B71A0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F3EB"/>
          </a:solidFill>
          <a:ln xmlns:a="http://schemas.openxmlformats.org/drawingml/2006/main" w="9525">
            <a:solidFill>
              <a:srgbClr val="2C8B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C955A-B34E-4E69-9756-91BE506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FF844-B439-4BFC-BA7F-A47C1924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生成 pairwise dynamic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0C0F2-F6B1-466C-969E-B5FB68C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0125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4E4"/>
          </a:solidFill>
          <a:ln xmlns:a="http://schemas.openxmlformats.org/drawingml/2006/main" w="9525">
            <a:solidFill>
              <a:srgbClr val="BD3D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29AA7B-CF28-4316-9E2C-45F7337D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101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rPr>
              <a:t>返回 null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669B2E-C070-4F02-9029-75E5F36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14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使用 null 合并，继续采用 PART 3 master</a:t>
            </a:r>
          </a:p>
        </p:txBody>
      </p:sp>
    </p:spTree>
    <p:extLst>
      <p:ext uri="{BB962C8B-B14F-4D97-AF65-F5344CB8AC3E}">
        <p14:creationId xmlns:p14="http://schemas.microsoft.com/office/powerpoint/2010/main" val="1005931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8">
            <a:extLst xmlns:a="http://schemas.openxmlformats.org/drawingml/2006/main">
              <a:ext uri="{FF2B5EF4-FFF2-40B4-BE49-F238E27FC236}">
                <a16:creationId xmlns:a16="http://schemas.microsoft.com/office/drawing/2014/main" id="{DD373DCC-FBDB-4483-90D6-E7BEEAC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18E09C9-E902-4F81-AFBF-02348541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诊断某条样芯时，Pairwise 路径会先把目标排除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3046-A6D1-474F-8295-9AB161A6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8">
            <a:extLst xmlns:a="http://schemas.openxmlformats.org/drawingml/2006/main">
              <a:ext uri="{FF2B5EF4-FFF2-40B4-BE49-F238E27FC236}">
                <a16:creationId xmlns:a16="http://schemas.microsoft.com/office/drawing/2014/main" id="{B6407B07-D9AB-44A4-B353-D780A2C8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pairwiseBootstrap.ts:146–179 · diagnosisWorker.ts:59–76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6884C428-E616-47AA-999A-CE9BD96C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1BFDB-263A-4813-B711-3A85B033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0FA0F-CCC2-44E1-AFAB-AEF6CC98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723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AC4E1-5846-438B-AB4E-1755DAD8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800600" cy="3657600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3CC6A-3B52-49C4-B479-03B228C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临时参考组 selectedTrees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9B8A4-2E3E-4AC9-9B5E-3D7F159C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429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69327-C331-4795-BF7B-9D1632BE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61B"/>
                </a:solidFill>
                <a:latin typeface="Arial"/>
                <a:ea typeface="Arial"/>
                <a:cs typeface="Arial"/>
              </a:rPr>
              <a:t>CORE-01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C6455-83E8-43AF-B83F-8F4861B5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622C4-AE0C-4463-ADD0-8B0F7CC9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429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7EA06-8283-45F7-9665-25F4DD45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61B"/>
                </a:solidFill>
                <a:latin typeface="Arial"/>
                <a:ea typeface="Arial"/>
                <a:cs typeface="Arial"/>
              </a:rPr>
              <a:t>CORE-02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64849-6BEB-4CB9-9553-580DE283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670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E0D4F-3101-4A59-98A8-81B86EA0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429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E4E4"/>
          </a:solidFill>
          <a:ln xmlns:a="http://schemas.openxmlformats.org/drawingml/2006/main" w="9525">
            <a:solidFill>
              <a:srgbClr val="BD3D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38824-AD94-4BF2-9A55-1B660EE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3D3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3D3D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DE1E5-2D3D-4622-A1A2-E96F5E52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05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rPr>
              <a:t>排除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95A46-CD6C-430E-8F18-F4579D56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429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11277-2044-44A1-A51B-2164CC34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61B"/>
                </a:solidFill>
                <a:latin typeface="Arial"/>
                <a:ea typeface="Arial"/>
                <a:cs typeface="Arial"/>
              </a:rPr>
              <a:t>CORE-04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59EA1-EAE6-4B55-9195-83ABFC1B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433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7BC23-E03C-41FF-9C63-D6CA5971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3429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8C140-B5B2-46C5-873C-744BD240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61B"/>
                </a:solidFill>
                <a:latin typeface="Arial"/>
                <a:ea typeface="Arial"/>
                <a:cs typeface="Arial"/>
              </a:rPr>
              <a:t>CORE-05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FE655-A96C-46BA-A8DF-CCE1C987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814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C9781-80EF-4A50-8ADE-AA05A6BE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429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E68E7-B966-48A5-B954-8947F010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61B"/>
                </a:solidFill>
                <a:latin typeface="Arial"/>
                <a:ea typeface="Arial"/>
                <a:cs typeface="Arial"/>
              </a:rPr>
              <a:t>CORE-06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2752D-7E17-4247-AFE4-606BE6B9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19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34FFD-1E2B-4EAB-B2D9-79BECF69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2762250" cy="19431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5033F-0F28-4531-9CAA-C261128B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重建目标专用年表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202F3E-7E39-4618-BC3E-BB02632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5FB5"/>
                </a:solidFill>
                <a:latin typeface="Arial"/>
                <a:ea typeface="Arial"/>
                <a:cs typeface="Arial"/>
              </a:rPr>
              <a:t>includedSeriesIds =</a:t>
            </a:r>
          </a:p>
          <a:p xmlns:a="http://schemas.openxmlformats.org/drawingml/2006/main">
            <a:pPr algn="ctr">
              <a:defRPr sz="1500" b="0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5FB5"/>
                </a:solidFill>
                <a:latin typeface="Arial"/>
                <a:ea typeface="Arial"/>
                <a:cs typeface="Arial"/>
              </a:rPr>
              <a:t>selectedTrees − targetTree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1928D9-8B78-4B43-B02C-2C474B1C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1962150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3C57A9-C1E9-44AA-9038-E6A85DD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8130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送入 Worker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诊断当前目标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4FE51-D669-483A-B944-E674A03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rPr>
              <a:t>这一防自证机制只对 source = pairwise_bootstrap 生效。</a:t>
            </a:r>
          </a:p>
        </p:txBody>
      </p:sp>
    </p:spTree>
    <p:extLst>
      <p:ext uri="{BB962C8B-B14F-4D97-AF65-F5344CB8AC3E}">
        <p14:creationId xmlns:p14="http://schemas.microsoft.com/office/powerpoint/2010/main" val="10873721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9">
            <a:extLst xmlns:a="http://schemas.openxmlformats.org/drawingml/2006/main">
              <a:ext uri="{FF2B5EF4-FFF2-40B4-BE49-F238E27FC236}">
                <a16:creationId xmlns:a16="http://schemas.microsoft.com/office/drawing/2014/main" id="{3E6FDF66-4B8A-4B93-BCE7-FF75C964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852324C-719C-4C8B-B4A0-B4920D26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自建参考先清洗每条样芯，再按年份平均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D5C8B-D537-4FF8-AB10-96C66B56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9">
            <a:extLst xmlns:a="http://schemas.openxmlformats.org/drawingml/2006/main">
              <a:ext uri="{FF2B5EF4-FFF2-40B4-BE49-F238E27FC236}">
                <a16:creationId xmlns:a16="http://schemas.microsoft.com/office/drawing/2014/main" id="{EDAC565D-EC6F-4D0F-93BE-13F281E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reference.ts:117–136, 465–617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FE42D303-C850-4A6B-A81C-3B78DCB1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4B88B-4B8C-41C1-A19C-641083CB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B82FF-1B30-4E49-97EA-76EA6B3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32 年 / 50%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0429D-B497-4F70-8D70-A844637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cubic spline 去趋势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70470-AEF1-4E45-AC41-DF6CEBE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98069-EB44-4164-904F-D052411B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09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raw ÷ trend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D3FEB-0283-4CB9-8442-F5CCAA07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95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无量纲 index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615D1-D7C1-4E0A-9805-77B53B6D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C28A0-083D-49C0-A05B-F562210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09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AR(p)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3C59A-1F1D-4EFD-B8E6-12DF1534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预白化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36FF0-38DC-4C27-8BE4-3986A0DE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B1310-3676-414B-888B-690BAF1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2C7F1-4C11-4161-8226-7DCFF2A7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默认开启；first diff 关闭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FA883-F6B0-4019-B702-77FCFEA6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28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1711E-5063-476C-8EEC-997C526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逐年平均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10BBC-3FA8-4FEC-A315-7BBB5A4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replication ≥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0CF2F-CBC5-4188-88D4-AE5A56D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428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3936C-9AED-4F63-B198-CF5810B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409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master z-score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0202D-6822-4927-A577-064CE2B3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95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mean 0 · sd 1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db1041d7640f9"/>
          <a:srcRect xmlns:a="http://schemas.openxmlformats.org/drawingml/2006/main" l="0" t="23834" r="0" b="23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209800"/>
            <a:ext cx="11125200" cy="3276600"/>
          </a:xfrm>
          <a:prstGeom xmlns:a="http://schemas.openxmlformats.org/drawingml/2006/main" prst="roundRect">
            <a:avLst>
              <a:gd name="adj" fmla="val 2907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28A30-E1E9-4C9B-B2D1-AB91D3A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34050"/>
            <a:ext cx="8839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EEF1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B7C26A-A31A-454C-98F1-D90ADECA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293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0 值 absent ring 默认不进入 master；最终平均的是转换后的 residual index，不是原始轮宽。</a:t>
            </a:r>
          </a:p>
        </p:txBody>
      </p:sp>
    </p:spTree>
    <p:extLst>
      <p:ext uri="{BB962C8B-B14F-4D97-AF65-F5344CB8AC3E}">
        <p14:creationId xmlns:p14="http://schemas.microsoft.com/office/powerpoint/2010/main" val="949040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0">
            <a:extLst xmlns:a="http://schemas.openxmlformats.org/drawingml/2006/main">
              <a:ext uri="{FF2B5EF4-FFF2-40B4-BE49-F238E27FC236}">
                <a16:creationId xmlns:a16="http://schemas.microsoft.com/office/drawing/2014/main" id="{D6A4EF88-18AD-4680-8F7F-835D8F1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4F43CC3-3A9D-4091-9E89-CAE34FFA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COFECHA 提供基准和名单，但不提交编辑操作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C1D68-FA6D-46AE-AF26-2A86BE4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10">
            <a:extLst xmlns:a="http://schemas.openxmlformats.org/drawingml/2006/main">
              <a:ext uri="{FF2B5EF4-FFF2-40B4-BE49-F238E27FC236}">
                <a16:creationId xmlns:a16="http://schemas.microsoft.com/office/drawing/2014/main" id="{134362C6-6950-4D51-931E-BD6FA70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engine.ts:90–133 · cofechaDriven.test.ts:544–575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7408F11A-10A2-4964-AFE6-DF978B03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7C662-51F8-4838-A039-AAA50AF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581150"/>
            <a:ext cx="0" cy="3562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B7D55-24EB-4F0C-8305-305283F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COFECHA 在当前流程中提供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841E0-1452-4FDC-B1A1-3D90CD8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• PART 3 动态 master chronology</a:t>
            </a:r>
          </a:p>
          <a:p xmlns:a="http://schemas.openxmlformats.org/drawingml/2006/main">
            <a:pPr algn="l">
              <a:def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• PART 6 分类：anchor_pass / candidate_flagged</a:t>
            </a:r>
          </a:p>
          <a:p xmlns:a="http://schemas.openxmlformats.org/drawingml/2006/main">
            <a:pPr algn="l">
              <a:def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• 后续复核的资格门槛信息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B8938-B2B6-4468-843B-6CAD53F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C8B64"/>
                </a:solidFill>
                <a:latin typeface="Microsoft YaHei"/>
                <a:ea typeface="Microsoft YaHei"/>
                <a:cs typeface="Microsoft YaHei"/>
              </a:rPr>
              <a:t>JS 内部诊断独立决定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F27B5-998C-46CC-B644-E4BD42C5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• 操作类型：插轮 / 删轮 / 范围移动</a:t>
            </a:r>
          </a:p>
          <a:p xmlns:a="http://schemas.openxmlformats.org/drawingml/2006/main">
            <a:pPr algn="l">
              <a:def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• 精确年份、位移量与作用范围</a:t>
            </a:r>
          </a:p>
          <a:p xmlns:a="http://schemas.openxmlformats.org/drawingml/2006/main">
            <a:pPr algn="l">
              <a:def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• 反事实试改后的评分与排序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AD18C-CF75-4FA9-9DDC-F1B87D46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990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49C02-3FD3-4EE9-8B2C-D0922A19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937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测试锁定：有无 cofechaText，候选 signature 与严格事件 signature 必须完全相同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05498-69F3-406B-9DC8-3F7D430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29250"/>
            <a:ext cx="83058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4E4"/>
          </a:solidFill>
          <a:ln xmlns:a="http://schemas.openxmlformats.org/drawingml/2006/main" w="9525">
            <a:solidFill>
              <a:srgbClr val="F8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38534-3C51-4B27-9679-B8CFED7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435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D3D3D"/>
                </a:solidFill>
                <a:latin typeface="Microsoft YaHei"/>
                <a:ea typeface="Microsoft YaHei"/>
                <a:cs typeface="Microsoft YaHei"/>
              </a:rPr>
              <a:t>不要说：“COFECHA 的 A 段直接生成了缺轮建议。”</a:t>
            </a:r>
          </a:p>
        </p:txBody>
      </p:sp>
    </p:spTree>
    <p:extLst>
      <p:ext uri="{BB962C8B-B14F-4D97-AF65-F5344CB8AC3E}">
        <p14:creationId xmlns:p14="http://schemas.microsoft.com/office/powerpoint/2010/main" val="1748897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-11">
            <a:extLst xmlns:a="http://schemas.openxmlformats.org/drawingml/2006/main">
              <a:ext uri="{FF2B5EF4-FFF2-40B4-BE49-F238E27FC236}">
                <a16:creationId xmlns:a16="http://schemas.microsoft.com/office/drawing/2014/main" id="{7A835B86-4BE1-4462-B789-CA37BDE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5CB0B17-AF21-4D4B-BA1A-35F884B6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新鲜度边界：OUT 会失效，参考点却可能继续被选中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F7A55-EDE6-4FF6-8659-6FF1DA34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11">
            <a:extLst xmlns:a="http://schemas.openxmlformats.org/drawingml/2006/main">
              <a:ext uri="{FF2B5EF4-FFF2-40B4-BE49-F238E27FC236}">
                <a16:creationId xmlns:a16="http://schemas.microsoft.com/office/drawing/2014/main" id="{4BD4F3D9-5AE2-49EA-8AF2-C8984F0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useHomeWorkspace.ts:347–364, 1613–1626 · diagnosisReferencePolicy.ts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BB2B0462-14A2-4564-B025-91970A7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0CB27-8E2F-49FB-9C86-5C2C242E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003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675DA-0EEF-4311-968E-548B1FCF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3D3D"/>
          </a:solidFill>
          <a:ln xmlns:a="http://schemas.openxmlformats.org/drawingml/2006/main" w="0">
            <a:solidFill>
              <a:srgbClr val="BD3D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4B9E5-B4A7-46CC-B7F3-6EC90891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95818-D67B-408C-A62D-0BB397D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BFDAD-AA8A-4167-9103-C4CF7776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719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55814-7D7F-43DA-A6EC-EAA62F4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6D2D"/>
          </a:solidFill>
          <a:ln xmlns:a="http://schemas.openxmlformats.org/drawingml/2006/main" w="0">
            <a:solidFill>
              <a:srgbClr val="C46D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3AAEC-B01C-4025-80E5-357A3C0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AD2F2-F2EA-4DF7-9DE9-7ED5ECD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14C41-B547-472E-94BF-BCEE774A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OUT 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2E5DC-1F52-47A4-9447-D31EF6F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rPr>
              <a:t>动态参考点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FA3FA-35B2-4EAD-A1CF-48817857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E1C1F-241A-4214-838C-795A9E93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COFECHA 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0101A-4FAF-4508-AF53-18DDFA68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记录输入签名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B2B9D-AED7-4CF9-8C22-4D8E23E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5265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81CC7-D416-49CA-8835-7B0BB545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编辑数据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11079-9334-4FD5-A429-17082FD8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479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working signature 改变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9C2F7-1212-49AA-8BB0-40436FE9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8E4E4"/>
          </a:solidFill>
          <a:ln xmlns:a="http://schemas.openxmlformats.org/drawingml/2006/main" w="9525">
            <a:solidFill>
              <a:srgbClr val="BD3D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81496-95CA-414B-8892-A0893006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05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签名不一致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6E0B8-D678-40C2-A388-65DBEEB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cofechaFresh = false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4C313-FB34-44D8-A354-3367FEF8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8E4E4"/>
          </a:solidFill>
          <a:ln xmlns:a="http://schemas.openxmlformats.org/drawingml/2006/main" w="9525">
            <a:solidFill>
              <a:srgbClr val="BD3D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313B47-CF2E-494B-B003-98953FD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不传 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103CE-44D3-4EFE-96D6-4DF2667D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479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cofechaText = undefined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4AFA8-4072-4CC0-A3B4-468629E2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5265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05ADA-3FC5-46B9-8FA7-7214A86C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重新运行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A631F3-505E-4B7E-B275-76188963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OUT 刷新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268E6-585A-4F08-95C1-5707EB7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F7E5A-28D9-4E01-A2A6-EACE13D8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参考新鲜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BA1B6C-853D-4416-A7E2-C2BEBBDF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isStale = false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F2CA24-A40D-4A35-B0DD-24BD8F2F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2430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08255-B283-411B-B40A-60BE0D44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编辑回调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38AC8B-2A4C-44B6-BA72-18F9DD2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96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isStale = true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202A1-A49A-4324-94AE-CC6613CB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E8DD"/>
          </a:solidFill>
          <a:ln xmlns:a="http://schemas.openxmlformats.org/drawingml/2006/main" w="9525">
            <a:solidFill>
              <a:srgbClr val="C46D2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7B12D7-A1FB-4292-9613-CE18A645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767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选择器条件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38A36-893C-4D82-95AE-2D3316B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196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dynamic + points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8C00AE-2B66-47C1-8CB4-DD92470B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2430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E8DD"/>
          </a:solidFill>
          <a:ln xmlns:a="http://schemas.openxmlformats.org/drawingml/2006/main" w="9525">
            <a:solidFill>
              <a:srgbClr val="C46D2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B53247-3682-4607-B968-DEDBCCD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767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仍可能使用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AE6472-859F-4E17-86A4-70CCD026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196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stale points 保留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4DF953-C75F-4EEE-BAF6-EAD5BE1D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24300"/>
            <a:ext cx="13906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A60615-9712-49B9-8DEA-6BB1EC56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重新运行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3ACF51-5105-4827-A436-D58BE17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96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参考刷新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1232FA-2150-4F98-B050-2E274B5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8DD"/>
          </a:solidFill>
          <a:ln xmlns:a="http://schemas.openxmlformats.org/drawingml/2006/main" w="9525">
            <a:solidFill>
              <a:srgbClr val="F7E8D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F7EC59-A732-44A4-90F7-16BD04BF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24500"/>
            <a:ext cx="918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6D2D"/>
                </a:solidFill>
                <a:latin typeface="Microsoft YaHei"/>
                <a:ea typeface="Microsoft YaHei"/>
                <a:cs typeface="Microsoft YaHei"/>
              </a:rPr>
              <a:t>当前真实行为：编辑后不会使用过期 OUT 原文，但可能继续使用已标记 stale 的动态参考点，直到重新运行 COFECHA。</a:t>
            </a:r>
          </a:p>
        </p:txBody>
      </p:sp>
    </p:spTree>
    <p:extLst>
      <p:ext uri="{BB962C8B-B14F-4D97-AF65-F5344CB8AC3E}">
        <p14:creationId xmlns:p14="http://schemas.microsoft.com/office/powerpoint/2010/main" val="1792192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2">
            <a:extLst xmlns:a="http://schemas.openxmlformats.org/drawingml/2006/main">
              <a:ext uri="{FF2B5EF4-FFF2-40B4-BE49-F238E27FC236}">
                <a16:creationId xmlns:a16="http://schemas.microsoft.com/office/drawing/2014/main" id="{7201BF56-F35D-4D16-9F35-791F287E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定年建议输出流程 · 第 1 章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93FED25-32C8-4B14-8F0A-773E8D34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第一步的输出是一条可比较的年代信号，不是编辑建议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B14CE-44ED-4CDB-964A-1A65C02A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ource-12">
            <a:extLst xmlns:a="http://schemas.openxmlformats.org/drawingml/2006/main">
              <a:ext uri="{FF2B5EF4-FFF2-40B4-BE49-F238E27FC236}">
                <a16:creationId xmlns:a16="http://schemas.microsoft.com/office/drawing/2014/main" id="{945D8DEF-1399-43DE-99A7-542D0C7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B949E"/>
                </a:solidFill>
                <a:latin typeface="Microsoft YaHei"/>
                <a:ea typeface="Microsoft YaHei"/>
                <a:cs typeface="Microsoft YaHei"/>
              </a:rPr>
              <a:t>SOURCE · 本章综合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B018D4BF-ADF6-4E09-96AA-FB833316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2ADAC-CE89-4DBA-B8EC-793D1B07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391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建立参考后，程序才有资格开始问：</a:t>
            </a:r>
          </a:p>
          <a:p xmlns:a="http://schemas.openxmlformats.org/drawingml/2006/main">
            <a:pPr algn="l">
              <a:defRPr sz="23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61B"/>
                </a:solidFill>
                <a:latin typeface="Microsoft YaHei"/>
                <a:ea typeface="Microsoft YaHei"/>
                <a:cs typeface="Microsoft YaHei"/>
              </a:rPr>
              <a:t>目标样芯从哪里开始错拍？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04E89-0D77-4B1C-8BB2-3417D8CB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1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这一章交付的对象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F688-C649-4CF7-8737-CE09FF13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2114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10DBF-93E1-4392-AFF2-61EDD0DE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310FE-1A2B-4A81-98E6-36C67655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reference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4AD5E-05CD-4579-BAB9-B75B33B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05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来源 = PART 3 master 或 pairwise 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0B3AE-F576-40CE-8B4A-7052CB91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591E9-CF70-43DD-B325-4C0D4B5E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分类与绑定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E4146-1B25-4E86-9F54-1C40AE40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14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anchor_pass / candidate_flagged + runId + rwlHash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85FC4-D2D9-45BB-B3ED-FF12B258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F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F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F1D33-BC90-4C8C-A448-593D93EE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43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61B"/>
                </a:solidFill>
                <a:latin typeface="Arial"/>
                <a:ea typeface="Arial"/>
                <a:cs typeface="Arial"/>
              </a:rPr>
              <a:t>边界状态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50929-4A5D-4C26-9413-AF385C4F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24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670"/>
                </a:solidFill>
                <a:latin typeface="Microsoft YaHei"/>
                <a:ea typeface="Microsoft YaHei"/>
                <a:cs typeface="Microsoft YaHei"/>
              </a:rPr>
              <a:t>isStale；Pairwise 路径的 target-specific exclusion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E1931-B442-4807-B31F-1AA74BDE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A9139-449F-4F95-9115-8A173D8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FB5"/>
                </a:solidFill>
                <a:latin typeface="Microsoft YaHei"/>
                <a:ea typeface="Microsoft YaHei"/>
                <a:cs typeface="Microsoft YaHei"/>
              </a:rPr>
              <a:t>下一章：整条滑动扫描 → 50 年重叠窗口 → A-like / B-like → 连续传播模式</a:t>
            </a:r>
          </a:p>
        </p:txBody>
      </p:sp>
    </p:spTree>
    <p:extLst>
      <p:ext uri="{BB962C8B-B14F-4D97-AF65-F5344CB8AC3E}">
        <p14:creationId xmlns:p14="http://schemas.microsoft.com/office/powerpoint/2010/main" val="1251867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2026-08-17T17:14:32.2890000Z</dcterms:created>
  <dcterms:modified xsi:type="dcterms:W3CDTF">2026-08-17T17:14:32.2890000Z</dcterms:modified>
</coreProperties>
</file>